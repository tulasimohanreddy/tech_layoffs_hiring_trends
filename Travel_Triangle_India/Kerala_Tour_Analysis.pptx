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Packages</c:v>
                </c:pt>
              </c:strCache>
            </c:strRef>
          </c:tx>
          <c:spPr>
            <a:solidFill>
              <a:srgbClr val="5A8F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B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5D/4N</c:v>
                  </c:pt>
                  <c:pt idx="1">
                    <c:v>4D/3N</c:v>
                  </c:pt>
                  <c:pt idx="2">
                    <c:v>3D/2N</c:v>
                  </c:pt>
                  <c:pt idx="3">
                    <c:v>6D/5N</c:v>
                  </c:pt>
                  <c:pt idx="4">
                    <c:v>2D/1N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631</c:v>
                </c:pt>
                <c:pt idx="1">
                  <c:v>574</c:v>
                </c:pt>
                <c:pt idx="2">
                  <c:v>423</c:v>
                </c:pt>
                <c:pt idx="3">
                  <c:v>210</c:v>
                </c:pt>
                <c:pt idx="4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B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A8F69"/>
              </a:solidFill>
              <a:effectLst/>
            </c:spPr>
          </c:dPt>
          <c:dPt>
            <c:idx val="1"/>
            <c:bubble3D val="0"/>
            <c:spPr>
              <a:solidFill>
                <a:srgbClr val="1F4D36"/>
              </a:solidFill>
              <a:effectLst/>
            </c:spPr>
          </c:dPt>
          <c:dPt>
            <c:idx val="2"/>
            <c:bubble3D val="0"/>
            <c:spPr>
              <a:solidFill>
                <a:srgbClr val="D8A847"/>
              </a:solidFill>
              <a:effectLst/>
            </c:spPr>
          </c:dPt>
          <c:dPt>
            <c:idx val="3"/>
            <c:bubble3D val="0"/>
            <c:spPr>
              <a:solidFill>
                <a:srgbClr val="C9D9C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3 Star – 56.3%</c:v>
                </c:pt>
                <c:pt idx="1">
                  <c:v>4 Star – 33.9%</c:v>
                </c:pt>
                <c:pt idx="2">
                  <c:v>5 Star – 9.6%</c:v>
                </c:pt>
                <c:pt idx="3">
                  <c:v>2 Star – 0.2%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56.29</c:v>
                </c:pt>
                <c:pt idx="1">
                  <c:v>33.92</c:v>
                </c:pt>
                <c:pt idx="2">
                  <c:v>9.58</c:v>
                </c:pt>
                <c:pt idx="3">
                  <c:v>0.21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2B2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Packages</c:v>
                </c:pt>
              </c:strCache>
            </c:strRef>
          </c:tx>
          <c:spPr>
            <a:solidFill>
              <a:srgbClr val="D8A8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B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8%</c:v>
                  </c:pt>
                  <c:pt idx="1">
                    <c:v>9%</c:v>
                  </c:pt>
                  <c:pt idx="2">
                    <c:v>10%</c:v>
                  </c:pt>
                  <c:pt idx="3">
                    <c:v>11%</c:v>
                  </c:pt>
                  <c:pt idx="4">
                    <c:v>12%</c:v>
                  </c:pt>
                  <c:pt idx="5">
                    <c:v>13%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369</c:v>
                </c:pt>
                <c:pt idx="1">
                  <c:v>414</c:v>
                </c:pt>
                <c:pt idx="2">
                  <c:v>298</c:v>
                </c:pt>
                <c:pt idx="3">
                  <c:v>250</c:v>
                </c:pt>
                <c:pt idx="4">
                  <c:v>190</c:v>
                </c:pt>
                <c:pt idx="5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B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5A8F6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5A8F6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914400"/>
            <a:ext cx="914400" cy="914400"/>
          </a:xfrm>
          <a:prstGeom prst="ellipse">
            <a:avLst/>
          </a:prstGeom>
          <a:solidFill>
            <a:srgbClr val="5A8F6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020" y="11521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0574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8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Kerala Tour Package Analysis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371600" y="370332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A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pricing, popularity, and value across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EA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 Kerala holiday packages from TravelTriangle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8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God's Own Country, decoded through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8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scraped tour-package listings into travel insight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4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Scrape, clean, and analyze 2,400 Kerala tour packages from TravelTriangle to surface pricing trends, popular destinations, and budget-friendly recommendations for travelers.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5900" y="3291840"/>
            <a:ext cx="731520" cy="731520"/>
          </a:xfrm>
          <a:prstGeom prst="ellipse">
            <a:avLst/>
          </a:prstGeom>
          <a:solidFill>
            <a:srgbClr val="EAF2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095" y="348203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4206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6634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package name, duration, price, rating &amp; discount data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01568" y="297180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8828" y="3291840"/>
            <a:ext cx="731520" cy="731520"/>
          </a:xfrm>
          <a:prstGeom prst="ellipse">
            <a:avLst/>
          </a:prstGeom>
          <a:solidFill>
            <a:srgbClr val="EAF2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023" y="348203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8728" y="4206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Analyze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0168" y="46634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pricing, duration, and destination patterns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54496" y="297180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91756" y="3291840"/>
            <a:ext cx="731520" cy="731520"/>
          </a:xfrm>
          <a:prstGeom prst="ellipse">
            <a:avLst/>
          </a:prstGeom>
          <a:solidFill>
            <a:srgbClr val="EAF2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951" y="348203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1656" y="4206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83096" y="46634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hotel categories and domestic package value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107424" y="297180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44684" y="3291840"/>
            <a:ext cx="731520" cy="731520"/>
          </a:xfrm>
          <a:prstGeom prst="ellipse">
            <a:avLst/>
          </a:prstGeom>
          <a:solidFill>
            <a:srgbClr val="EAF2E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879" y="348203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44584" y="4206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336024" y="46634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budget-friendly, high-value travel packages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8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Kerala packages sit in an affordable, value-driven band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EAF2E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1920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₹29,773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0" y="1600200"/>
            <a:ext cx="28346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current price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EAF2E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43784"/>
            <a:ext cx="1920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₹23,900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0" y="2843784"/>
            <a:ext cx="28346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current price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87368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EAF2E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87368"/>
            <a:ext cx="1920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₹33,534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43200" y="4087368"/>
            <a:ext cx="28346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original price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30952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EAF2E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330952"/>
            <a:ext cx="1920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8–13%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743200" y="5330952"/>
            <a:ext cx="28346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discount range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Booked Trip Lengths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126480" y="201168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D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Profile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8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category mix and how steep the typical discount really 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Category Share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148840"/>
          <a:ext cx="4846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554480"/>
            <a:ext cx="542239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Discounts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446520" y="2148840"/>
          <a:ext cx="5074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5A8F6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5A8F6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9601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020" y="11978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1031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29718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A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exploring the Kerala Tour Package Analysis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3931920"/>
            <a:ext cx="8897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want the underlying dataset &amp; notebook? </a:t>
            </a:r>
            <a:pPr algn="ctr" indent="0" marL="0">
              <a:buNone/>
            </a:pPr>
            <a:r>
              <a:rPr lang="en-US" sz="1300" b="1" dirty="0">
                <a:solidFill>
                  <a:srgbClr val="D8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any chart in more detail.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Kerala Tour Package Analysis</dc:title>
  <dc:subject>PptxGenJS Presentation</dc:subject>
  <dc:creator>Kerala Tour Analysis</dc:creator>
  <cp:lastModifiedBy>Kerala Tour Analysis</cp:lastModifiedBy>
  <cp:revision>1</cp:revision>
  <dcterms:created xsi:type="dcterms:W3CDTF">2026-06-19T03:02:37Z</dcterms:created>
  <dcterms:modified xsi:type="dcterms:W3CDTF">2026-06-19T03:02:37Z</dcterms:modified>
</cp:coreProperties>
</file>