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377440"/>
            <a:ext cx="10972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Layoffs &amp; Hiring Trends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in-depth analysis of workforce trends, industry disruptions,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growing impact of AI on the global job market.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Information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F0F8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887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Numerical Columns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layoffs_count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open_roles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layoff_percentage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ai_automation_impact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ai_replacement_risk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remote_jobs_percentage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stock_growth_percent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revenue_growth_percent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salary_budget_change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ai_adoption_level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employee_sentiment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job_security_score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FFF8F0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1887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Categorical Columns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64592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record_id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company_name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company_size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reason_for_layoffs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hiring_trend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top_hiring_role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market_condition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23 Columns   |   Years Covered: 2024–2026   |   Key Focus: AI Impact, Layoffs &amp; Hiring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0F8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Company Layoffs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52704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recorded the highest layoff count (983). Spotify, Databricks &amp; Google ranged 616–622.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FF0F5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Year-wise Trend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52704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had the most layoffs (4,019). Counts across 2024–2026 were remarkably consistent, showing a sustained trend.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42316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0F8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4963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Industry Impact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85292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led with 2,158 layoffs. E-Commerce, Cloud, AI &amp; FinTech each saw 1,617–1,665.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42316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FF0F5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24963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Country Impact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85292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had the highest layoffs (2,348). USA, India, Singapore, Canada &amp; Germany were closely grouped at 1,908–1,970.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74904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0F8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8221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🧊  Hiring Trends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17880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Freeze was most common (5,280 instances), followed by Moderate Hiring (4,568). Aggressive Hiring was rare (495).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74904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FF0F5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38221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Layoff Reasons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417880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Overhiring Correction led at 25.2%. AI Automation, Cost Cutting, Restructuring &amp; Market Slowdown each ~18–19%.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Executive 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4206240" cy="841248"/>
          </a:xfrm>
          <a:prstGeom prst="roundRect">
            <a:avLst>
              <a:gd name="adj" fmla="val 8696"/>
            </a:avLst>
          </a:prstGeom>
          <a:solidFill>
            <a:srgbClr val="F0F8FF"/>
          </a:solidFill>
          <a:ln/>
          <a:effectLst>
            <a:outerShdw sx="100000" sy="100000" kx="0" ky="0" algn="bl" rotWithShape="0" blurRad="50800" dist="12700" dir="27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38328" y="1207008"/>
            <a:ext cx="3986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</a:t>
            </a:r>
            <a:pPr indent="0" marL="0">
              <a:buNone/>
            </a:pPr>
            <a:r>
              <a:rPr lang="en-US" sz="100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Skills Dominate Hiring — ML Engineers &amp; Data Scientists are the most in-demand roles.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206240" cy="841248"/>
          </a:xfrm>
          <a:prstGeom prst="roundRect">
            <a:avLst>
              <a:gd name="adj" fmla="val 8696"/>
            </a:avLst>
          </a:prstGeom>
          <a:solidFill>
            <a:srgbClr val="F0F8FF"/>
          </a:solidFill>
          <a:ln/>
          <a:effectLst>
            <a:outerShdw sx="100000" sy="100000" kx="0" ky="0" algn="bl" rotWithShape="0" blurRad="50800" dist="12700" dir="27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73168" y="1207008"/>
            <a:ext cx="3986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 </a:t>
            </a:r>
            <a:pPr indent="0" marL="0">
              <a:buNone/>
            </a:pPr>
            <a:r>
              <a:rPr lang="en-US" sz="100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Overhiring Corrections Continue — Companies realign workforce sizes rather than aggressively expanding.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2057400"/>
            <a:ext cx="4206240" cy="841248"/>
          </a:xfrm>
          <a:prstGeom prst="roundRect">
            <a:avLst>
              <a:gd name="adj" fmla="val 8696"/>
            </a:avLst>
          </a:prstGeom>
          <a:solidFill>
            <a:srgbClr val="F5FFF8"/>
          </a:solidFill>
          <a:ln/>
          <a:effectLst>
            <a:outerShdw sx="100000" sy="100000" kx="0" ky="0" algn="bl" rotWithShape="0" blurRad="50800" dist="12700" dir="2700000">
              <a:srgbClr val="000000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" y="2167128"/>
            <a:ext cx="3986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buNone/>
            </a:pPr>
            <a:r>
              <a:rPr lang="en-US" sz="100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Tech Remains Key Driver — Highest hiring and workforce activity; sets industry employment tone.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057400"/>
            <a:ext cx="4206240" cy="841248"/>
          </a:xfrm>
          <a:prstGeom prst="roundRect">
            <a:avLst>
              <a:gd name="adj" fmla="val 8696"/>
            </a:avLst>
          </a:prstGeom>
          <a:solidFill>
            <a:srgbClr val="F5FFF8"/>
          </a:solidFill>
          <a:ln/>
          <a:effectLst>
            <a:outerShdw sx="100000" sy="100000" kx="0" ky="0" algn="bl" rotWithShape="0" blurRad="50800" dist="12700" dir="270000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73168" y="2167128"/>
            <a:ext cx="3986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</a:t>
            </a:r>
            <a:pPr indent="0" marL="0">
              <a:buNone/>
            </a:pPr>
            <a:r>
              <a:rPr lang="en-US" sz="100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Cybersecurity Stay Strong — Infrastructure and security roles see consistent, sustained demand.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" y="3017520"/>
            <a:ext cx="4206240" cy="841248"/>
          </a:xfrm>
          <a:prstGeom prst="roundRect">
            <a:avLst>
              <a:gd name="adj" fmla="val 8696"/>
            </a:avLst>
          </a:prstGeom>
          <a:solidFill>
            <a:srgbClr val="F0F8FF"/>
          </a:solidFill>
          <a:ln/>
          <a:effectLst>
            <a:outerShdw sx="100000" sy="100000" kx="0" ky="0" algn="bl" rotWithShape="0" blurRad="50800" dist="12700" dir="270000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8328" y="3127248"/>
            <a:ext cx="3986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</a:t>
            </a:r>
            <a:pPr indent="0" marL="0">
              <a:buNone/>
            </a:pPr>
            <a:r>
              <a:rPr lang="en-US" sz="100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Cautious Hiring Prevails — Hiring Freeze &amp; Moderate Hiring far outpace Aggressive Hiring strategies.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3017520"/>
            <a:ext cx="4206240" cy="841248"/>
          </a:xfrm>
          <a:prstGeom prst="roundRect">
            <a:avLst>
              <a:gd name="adj" fmla="val 8696"/>
            </a:avLst>
          </a:prstGeom>
          <a:solidFill>
            <a:srgbClr val="F0F8FF"/>
          </a:solidFill>
          <a:ln/>
          <a:effectLst>
            <a:outerShdw sx="100000" sy="100000" kx="0" ky="0" algn="bl" rotWithShape="0" blurRad="50800" dist="12700" dir="27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73168" y="3127248"/>
            <a:ext cx="3986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</a:t>
            </a:r>
            <a:pPr indent="0" marL="0">
              <a:buNone/>
            </a:pPr>
            <a:r>
              <a:rPr lang="en-US" sz="100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Reshapes Jobs — Automation reduces repetitive roles; demand for AI-related skills rises sharply.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3977640"/>
            <a:ext cx="4206240" cy="841248"/>
          </a:xfrm>
          <a:prstGeom prst="roundRect">
            <a:avLst>
              <a:gd name="adj" fmla="val 8696"/>
            </a:avLst>
          </a:prstGeom>
          <a:solidFill>
            <a:srgbClr val="F5FFF8"/>
          </a:solidFill>
          <a:ln/>
          <a:effectLst>
            <a:outerShdw sx="100000" sy="100000" kx="0" ky="0" algn="bl" rotWithShape="0" blurRad="50800" dist="12700" dir="2700000">
              <a:srgbClr val="000000">
                <a:alpha val="9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8328" y="4087368"/>
            <a:ext cx="3986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</a:t>
            </a:r>
            <a:pPr indent="0" marL="0">
              <a:buNone/>
            </a:pPr>
            <a:r>
              <a:rPr lang="en-US" sz="100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Restructuring Ongoing — Similar layoff patterns across countries confirm this is a worldwide trend.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3977640"/>
            <a:ext cx="4206240" cy="841248"/>
          </a:xfrm>
          <a:prstGeom prst="roundRect">
            <a:avLst>
              <a:gd name="adj" fmla="val 8696"/>
            </a:avLst>
          </a:prstGeom>
          <a:solidFill>
            <a:srgbClr val="F5FFF8"/>
          </a:solidFill>
          <a:ln/>
          <a:effectLst>
            <a:outerShdw sx="100000" sy="100000" kx="0" ky="0" algn="bl" rotWithShape="0" blurRad="50800" dist="12700" dir="2700000">
              <a:srgbClr val="000000">
                <a:alpha val="9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73168" y="4087368"/>
            <a:ext cx="3986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</a:t>
            </a:r>
            <a:pPr indent="0" marL="0">
              <a:buNone/>
            </a:pPr>
            <a:r>
              <a:rPr lang="en-US" sz="100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Analytics Careers Shine — Python, SQL, ML &amp; Analytics professionals enjoy the strongest prospects.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28600" y="4736592"/>
            <a:ext cx="8686800" cy="292608"/>
          </a:xfrm>
          <a:prstGeom prst="roundRect">
            <a:avLst>
              <a:gd name="adj" fmla="val 15625"/>
            </a:avLst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745736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Companies are downsizing excess workforce while investing heavily in AI, Data Science &amp; Cloud — the future belongs to AI-skilled professionals.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731520"/>
            <a:ext cx="3657600" cy="36576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457200"/>
            <a:ext cx="1828800" cy="18288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spc="1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3200400" y="251460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Layoffs &amp; Hiring Trends — EDA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was conducted to uncover patterns in global tech workforce dynamics,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behaviors, and the accelerating role of AI in reshaping employment.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 •  2024–2026  •  Python | Pandas | Seaborn | Matplotlib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 Layoffs EDA</dc:title>
  <dc:subject>PptxGenJS Presentation</dc:subject>
  <dc:creator>PptxGenJS</dc:creator>
  <cp:lastModifiedBy>PptxGenJS</cp:lastModifiedBy>
  <cp:revision>1</cp:revision>
  <dcterms:created xsi:type="dcterms:W3CDTF">2026-06-11T04:15:15Z</dcterms:created>
  <dcterms:modified xsi:type="dcterms:W3CDTF">2026-06-11T04:15:15Z</dcterms:modified>
</cp:coreProperties>
</file>